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Aptos" charset="1" panose="020B0004020202020204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IILM UNIVERSITY, GREATER NOIDA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School of Computer Science and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577" y="2676763"/>
            <a:ext cx="16014659" cy="84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22A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SUMMER INTERNSHIP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3910213"/>
            <a:ext cx="16014659" cy="77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E69B4"/>
                </a:solidFill>
                <a:latin typeface="Calibri (MS)"/>
                <a:ea typeface="Calibri (MS)"/>
                <a:cs typeface="Calibri (MS)"/>
                <a:sym typeface="Calibri (MS)"/>
              </a:rPr>
              <a:t>AI &amp; Data Science  /  Software Development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0984" y="5483542"/>
            <a:ext cx="3720513" cy="1730140"/>
            <a:chOff x="0" y="0"/>
            <a:chExt cx="4960684" cy="2306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60620" cy="2306828"/>
            </a:xfrm>
            <a:custGeom>
              <a:avLst/>
              <a:gdLst/>
              <a:ahLst/>
              <a:cxnLst/>
              <a:rect r="r" b="b" t="t" l="l"/>
              <a:pathLst>
                <a:path h="2306828" w="4960620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576191" y="0"/>
                  </a:lnTo>
                  <a:cubicBezTo>
                    <a:pt x="4788535" y="0"/>
                    <a:pt x="4960620" y="172085"/>
                    <a:pt x="4960620" y="384429"/>
                  </a:cubicBezTo>
                  <a:lnTo>
                    <a:pt x="4960620" y="1922399"/>
                  </a:lnTo>
                  <a:cubicBezTo>
                    <a:pt x="4960620" y="2134743"/>
                    <a:pt x="4788535" y="2306828"/>
                    <a:pt x="457619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91567" y="5714857"/>
            <a:ext cx="297426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STUDENT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2744" y="6332563"/>
            <a:ext cx="290563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YASH MALIK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40376" y="5483542"/>
            <a:ext cx="3720513" cy="1730140"/>
            <a:chOff x="0" y="0"/>
            <a:chExt cx="4960684" cy="23068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0620" cy="2306828"/>
            </a:xfrm>
            <a:custGeom>
              <a:avLst/>
              <a:gdLst/>
              <a:ahLst/>
              <a:cxnLst/>
              <a:rect r="r" b="b" t="t" l="l"/>
              <a:pathLst>
                <a:path h="2306828" w="4960620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576191" y="0"/>
                  </a:lnTo>
                  <a:cubicBezTo>
                    <a:pt x="4788535" y="0"/>
                    <a:pt x="4960620" y="172085"/>
                    <a:pt x="4960620" y="384429"/>
                  </a:cubicBezTo>
                  <a:lnTo>
                    <a:pt x="4960620" y="1922399"/>
                  </a:lnTo>
                  <a:cubicBezTo>
                    <a:pt x="4960620" y="2134743"/>
                    <a:pt x="4788535" y="2306828"/>
                    <a:pt x="457619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540950" y="5714857"/>
            <a:ext cx="297426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DEGREE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82126" y="6332563"/>
            <a:ext cx="290563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B.Tech CSE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89758" y="5483542"/>
            <a:ext cx="3995052" cy="1730140"/>
            <a:chOff x="0" y="0"/>
            <a:chExt cx="5326736" cy="23068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6634" cy="2306828"/>
            </a:xfrm>
            <a:custGeom>
              <a:avLst/>
              <a:gdLst/>
              <a:ahLst/>
              <a:cxnLst/>
              <a:rect r="r" b="b" t="t" l="l"/>
              <a:pathLst>
                <a:path h="2306828" w="5326634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942205" y="0"/>
                  </a:lnTo>
                  <a:cubicBezTo>
                    <a:pt x="5154549" y="0"/>
                    <a:pt x="5326634" y="172085"/>
                    <a:pt x="5326634" y="384429"/>
                  </a:cubicBezTo>
                  <a:lnTo>
                    <a:pt x="5326634" y="1922399"/>
                  </a:lnTo>
                  <a:cubicBezTo>
                    <a:pt x="5326634" y="2134743"/>
                    <a:pt x="5154549" y="2306828"/>
                    <a:pt x="4942205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590332" y="5714857"/>
            <a:ext cx="324879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ORGANIZATION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31509" y="6332563"/>
            <a:ext cx="318016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[DATA ALCOTT SYSTEMS]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513670" y="5483542"/>
            <a:ext cx="3583248" cy="1730140"/>
            <a:chOff x="0" y="0"/>
            <a:chExt cx="4777664" cy="23068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77613" cy="2306828"/>
            </a:xfrm>
            <a:custGeom>
              <a:avLst/>
              <a:gdLst/>
              <a:ahLst/>
              <a:cxnLst/>
              <a:rect r="r" b="b" t="t" l="l"/>
              <a:pathLst>
                <a:path h="2306828" w="4777613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4393184" y="0"/>
                  </a:lnTo>
                  <a:cubicBezTo>
                    <a:pt x="4605528" y="0"/>
                    <a:pt x="4777613" y="172085"/>
                    <a:pt x="4777613" y="384429"/>
                  </a:cubicBezTo>
                  <a:lnTo>
                    <a:pt x="4777613" y="1922399"/>
                  </a:lnTo>
                  <a:cubicBezTo>
                    <a:pt x="4777613" y="2134743"/>
                    <a:pt x="4605528" y="2306828"/>
                    <a:pt x="4393184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3914253" y="5714857"/>
            <a:ext cx="2837002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DURATION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55430" y="6332563"/>
            <a:ext cx="276836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[ 09/08/2026  to  30/08/2026]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About the Internship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A project-based learning experience in AI application development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2051856"/>
            <a:ext cx="5230454" cy="2141944"/>
            <a:chOff x="0" y="0"/>
            <a:chExt cx="6973938" cy="2855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22930" y="2283181"/>
            <a:ext cx="448420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DOMAIN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2900877"/>
            <a:ext cx="4415571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AI &amp; Data Science / Software Development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3043" y="2051856"/>
            <a:ext cx="5230454" cy="2141944"/>
            <a:chOff x="0" y="0"/>
            <a:chExt cx="6973938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913626" y="2283181"/>
            <a:ext cx="448420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NATURE OF 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4803" y="2900877"/>
            <a:ext cx="4415571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Development of student-focused AI applications, testing, debugging and local deployment.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03738" y="2051856"/>
            <a:ext cx="5230454" cy="2141944"/>
            <a:chOff x="0" y="0"/>
            <a:chExt cx="6973938" cy="2855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73951" cy="2855976"/>
            </a:xfrm>
            <a:custGeom>
              <a:avLst/>
              <a:gdLst/>
              <a:ahLst/>
              <a:cxnLst/>
              <a:rect r="r" b="b" t="t" l="l"/>
              <a:pathLst>
                <a:path h="2855976" w="6973951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97955" y="0"/>
                  </a:lnTo>
                  <a:cubicBezTo>
                    <a:pt x="6760845" y="0"/>
                    <a:pt x="6973951" y="213106"/>
                    <a:pt x="6973951" y="475996"/>
                  </a:cubicBezTo>
                  <a:lnTo>
                    <a:pt x="6973951" y="2379980"/>
                  </a:lnTo>
                  <a:cubicBezTo>
                    <a:pt x="6973951" y="2642870"/>
                    <a:pt x="6760845" y="2855976"/>
                    <a:pt x="649795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404312" y="2283181"/>
            <a:ext cx="448420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EXPOSURE GAINED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5489" y="2900877"/>
            <a:ext cx="4415571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Python, NLP, Machine Learning, recommendation systems and web interfaces.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2356" y="6032611"/>
            <a:ext cx="2828277" cy="1043803"/>
            <a:chOff x="0" y="0"/>
            <a:chExt cx="3771036" cy="13917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252300">
            <a:off x="3823716" y="6544989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316768" y="6032611"/>
            <a:ext cx="2828277" cy="1043803"/>
            <a:chOff x="0" y="0"/>
            <a:chExt cx="3771036" cy="13917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rot="252300">
            <a:off x="7118128" y="6544989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7611180" y="6032611"/>
            <a:ext cx="2828277" cy="1043803"/>
            <a:chOff x="0" y="0"/>
            <a:chExt cx="3771036" cy="13917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rot="252300">
            <a:off x="10412549" y="6544989"/>
            <a:ext cx="51996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0905592" y="6032611"/>
            <a:ext cx="2828277" cy="1043803"/>
            <a:chOff x="0" y="0"/>
            <a:chExt cx="3771036" cy="13917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83675" y="6411626"/>
            <a:ext cx="28282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Unde</a:t>
            </a: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rstand Problem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90550" y="6430688"/>
            <a:ext cx="28282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</a:t>
            </a: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uild Solution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583195" y="6449753"/>
            <a:ext cx="28282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Test</a:t>
            </a: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&amp; Debug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75840" y="6449753"/>
            <a:ext cx="28282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Validate Output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Internship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Key information about the internship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1983229"/>
            <a:ext cx="5024552" cy="1592875"/>
            <a:chOff x="0" y="0"/>
            <a:chExt cx="6699402" cy="2123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22930" y="221454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STUDENT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2832240"/>
            <a:ext cx="4209669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Yash Malik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3043" y="1983229"/>
            <a:ext cx="5024552" cy="1592875"/>
            <a:chOff x="0" y="0"/>
            <a:chExt cx="6699402" cy="2123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913626" y="221454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DEGREE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4803" y="2832240"/>
            <a:ext cx="4209669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B.Tech CSE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03738" y="1983229"/>
            <a:ext cx="5024552" cy="1592875"/>
            <a:chOff x="0" y="0"/>
            <a:chExt cx="6699402" cy="2123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404312" y="221454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DOMAIN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5489" y="2832240"/>
            <a:ext cx="4209669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AI &amp; Data Science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2356" y="3973601"/>
            <a:ext cx="5024552" cy="1592875"/>
            <a:chOff x="0" y="0"/>
            <a:chExt cx="6699402" cy="21238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22930" y="420491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ORGANIZATION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4116" y="4822622"/>
            <a:ext cx="420966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[DATA ALCOTT SYSTEMS]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13043" y="3973601"/>
            <a:ext cx="5024552" cy="1592875"/>
            <a:chOff x="0" y="0"/>
            <a:chExt cx="6699402" cy="21238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913626" y="420491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MODE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54803" y="4822622"/>
            <a:ext cx="420966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[REMOTE]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03738" y="3973601"/>
            <a:ext cx="5024552" cy="1592875"/>
            <a:chOff x="0" y="0"/>
            <a:chExt cx="6699402" cy="21238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404312" y="420491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DURATION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5489" y="4822622"/>
            <a:ext cx="420966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[ 09/08/2026 to 30/08/2026]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22356" y="6238513"/>
            <a:ext cx="16005934" cy="1661503"/>
            <a:chOff x="0" y="0"/>
            <a:chExt cx="21341245" cy="22153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341206" cy="2215261"/>
            </a:xfrm>
            <a:custGeom>
              <a:avLst/>
              <a:gdLst/>
              <a:ahLst/>
              <a:cxnLst/>
              <a:rect r="r" b="b" t="t" l="l"/>
              <a:pathLst>
                <a:path h="2215261" w="21341206">
                  <a:moveTo>
                    <a:pt x="0" y="369189"/>
                  </a:moveTo>
                  <a:cubicBezTo>
                    <a:pt x="0" y="165354"/>
                    <a:pt x="165354" y="0"/>
                    <a:pt x="369189" y="0"/>
                  </a:cubicBezTo>
                  <a:lnTo>
                    <a:pt x="20972018" y="0"/>
                  </a:lnTo>
                  <a:cubicBezTo>
                    <a:pt x="21175980" y="0"/>
                    <a:pt x="21341206" y="165354"/>
                    <a:pt x="21341206" y="369189"/>
                  </a:cubicBezTo>
                  <a:lnTo>
                    <a:pt x="21341206" y="1846072"/>
                  </a:lnTo>
                  <a:cubicBezTo>
                    <a:pt x="21341206" y="2050034"/>
                    <a:pt x="21175853" y="2215261"/>
                    <a:pt x="20972018" y="2215261"/>
                  </a:cubicBezTo>
                  <a:lnTo>
                    <a:pt x="369189" y="2215261"/>
                  </a:lnTo>
                  <a:cubicBezTo>
                    <a:pt x="165354" y="2215388"/>
                    <a:pt x="0" y="2050034"/>
                    <a:pt x="0" y="1846072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122A4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422930" y="6469828"/>
            <a:ext cx="1525968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MAJOR PROJECT AREAS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4116" y="7087533"/>
            <a:ext cx="15191051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AI Career Guidance Assistant  •  AI Internship Recommendation Engine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AI Registration Assistant  •  AI Resume Reviewer &amp; ATS Optimizer  •  AI Project Topic Recommender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Internship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What I aimed to achieve through the internship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2051856"/>
            <a:ext cx="5024552" cy="2141944"/>
            <a:chOff x="0" y="0"/>
            <a:chExt cx="6699402" cy="2855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9377" cy="2855976"/>
            </a:xfrm>
            <a:custGeom>
              <a:avLst/>
              <a:gdLst/>
              <a:ahLst/>
              <a:cxnLst/>
              <a:rect r="r" b="b" t="t" l="l"/>
              <a:pathLst>
                <a:path h="2855976" w="669937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223381" y="0"/>
                  </a:lnTo>
                  <a:cubicBezTo>
                    <a:pt x="6486271" y="0"/>
                    <a:pt x="6699377" y="213106"/>
                    <a:pt x="6699377" y="475996"/>
                  </a:cubicBezTo>
                  <a:lnTo>
                    <a:pt x="6699377" y="2379980"/>
                  </a:lnTo>
                  <a:cubicBezTo>
                    <a:pt x="6699377" y="2642870"/>
                    <a:pt x="6486271" y="2855976"/>
                    <a:pt x="622338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22930" y="2283181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OBJECTIVE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2900877"/>
            <a:ext cx="4209669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Gain practical software development experience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3043" y="2051856"/>
            <a:ext cx="5024552" cy="2141944"/>
            <a:chOff x="0" y="0"/>
            <a:chExt cx="6699402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9377" cy="2855976"/>
            </a:xfrm>
            <a:custGeom>
              <a:avLst/>
              <a:gdLst/>
              <a:ahLst/>
              <a:cxnLst/>
              <a:rect r="r" b="b" t="t" l="l"/>
              <a:pathLst>
                <a:path h="2855976" w="669937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223381" y="0"/>
                  </a:lnTo>
                  <a:cubicBezTo>
                    <a:pt x="6486271" y="0"/>
                    <a:pt x="6699377" y="213106"/>
                    <a:pt x="6699377" y="475996"/>
                  </a:cubicBezTo>
                  <a:lnTo>
                    <a:pt x="6699377" y="2379980"/>
                  </a:lnTo>
                  <a:cubicBezTo>
                    <a:pt x="6699377" y="2642870"/>
                    <a:pt x="6486271" y="2855976"/>
                    <a:pt x="622338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913626" y="2283181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OBJECTIVE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4803" y="2900877"/>
            <a:ext cx="4209669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Apply NLP and Machine Learning to real use cases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03738" y="2051856"/>
            <a:ext cx="5024552" cy="2141944"/>
            <a:chOff x="0" y="0"/>
            <a:chExt cx="6699402" cy="2855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99377" cy="2855976"/>
            </a:xfrm>
            <a:custGeom>
              <a:avLst/>
              <a:gdLst/>
              <a:ahLst/>
              <a:cxnLst/>
              <a:rect r="r" b="b" t="t" l="l"/>
              <a:pathLst>
                <a:path h="2855976" w="669937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223381" y="0"/>
                  </a:lnTo>
                  <a:cubicBezTo>
                    <a:pt x="6486271" y="0"/>
                    <a:pt x="6699377" y="213106"/>
                    <a:pt x="6699377" y="475996"/>
                  </a:cubicBezTo>
                  <a:lnTo>
                    <a:pt x="6699377" y="2379980"/>
                  </a:lnTo>
                  <a:cubicBezTo>
                    <a:pt x="6699377" y="2642870"/>
                    <a:pt x="6486271" y="2855976"/>
                    <a:pt x="622338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404312" y="2283181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OBJECTIVE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5489" y="2900877"/>
            <a:ext cx="4209669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Develop student-focused AI solutions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2356" y="4797200"/>
            <a:ext cx="5024552" cy="2141944"/>
            <a:chOff x="0" y="0"/>
            <a:chExt cx="6699402" cy="28559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9377" cy="2855976"/>
            </a:xfrm>
            <a:custGeom>
              <a:avLst/>
              <a:gdLst/>
              <a:ahLst/>
              <a:cxnLst/>
              <a:rect r="r" b="b" t="t" l="l"/>
              <a:pathLst>
                <a:path h="2855976" w="669937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223381" y="0"/>
                  </a:lnTo>
                  <a:cubicBezTo>
                    <a:pt x="6486271" y="0"/>
                    <a:pt x="6699377" y="213106"/>
                    <a:pt x="6699377" y="475996"/>
                  </a:cubicBezTo>
                  <a:lnTo>
                    <a:pt x="6699377" y="2379980"/>
                  </a:lnTo>
                  <a:cubicBezTo>
                    <a:pt x="6699377" y="2642870"/>
                    <a:pt x="6486271" y="2855976"/>
                    <a:pt x="622338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22930" y="5028524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OBJECTIVE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4116" y="5646220"/>
            <a:ext cx="4209669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Improve testing and debugging skills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13043" y="4797200"/>
            <a:ext cx="5024552" cy="2141944"/>
            <a:chOff x="0" y="0"/>
            <a:chExt cx="6699402" cy="28559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99377" cy="2855976"/>
            </a:xfrm>
            <a:custGeom>
              <a:avLst/>
              <a:gdLst/>
              <a:ahLst/>
              <a:cxnLst/>
              <a:rect r="r" b="b" t="t" l="l"/>
              <a:pathLst>
                <a:path h="2855976" w="669937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223381" y="0"/>
                  </a:lnTo>
                  <a:cubicBezTo>
                    <a:pt x="6486271" y="0"/>
                    <a:pt x="6699377" y="213106"/>
                    <a:pt x="6699377" y="475996"/>
                  </a:cubicBezTo>
                  <a:lnTo>
                    <a:pt x="6699377" y="2379980"/>
                  </a:lnTo>
                  <a:cubicBezTo>
                    <a:pt x="6699377" y="2642870"/>
                    <a:pt x="6486271" y="2855976"/>
                    <a:pt x="622338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913626" y="5028524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OBJECTIVE 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54803" y="5646220"/>
            <a:ext cx="4209669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Learn project organization and development workflows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03738" y="4797200"/>
            <a:ext cx="5024552" cy="2141944"/>
            <a:chOff x="0" y="0"/>
            <a:chExt cx="6699402" cy="28559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99377" cy="2855976"/>
            </a:xfrm>
            <a:custGeom>
              <a:avLst/>
              <a:gdLst/>
              <a:ahLst/>
              <a:cxnLst/>
              <a:rect r="r" b="b" t="t" l="l"/>
              <a:pathLst>
                <a:path h="2855976" w="669937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223381" y="0"/>
                  </a:lnTo>
                  <a:cubicBezTo>
                    <a:pt x="6486271" y="0"/>
                    <a:pt x="6699377" y="213106"/>
                    <a:pt x="6699377" y="475996"/>
                  </a:cubicBezTo>
                  <a:lnTo>
                    <a:pt x="6699377" y="2379980"/>
                  </a:lnTo>
                  <a:cubicBezTo>
                    <a:pt x="6699377" y="2642870"/>
                    <a:pt x="6486271" y="2855976"/>
                    <a:pt x="622338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404312" y="5028524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OBJECTIVE 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5489" y="5646220"/>
            <a:ext cx="4209669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Build simple, user-focused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Project Portfolio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Five AI-focused applications developed during the internship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9621" y="1914592"/>
            <a:ext cx="16005934" cy="1112434"/>
            <a:chOff x="0" y="0"/>
            <a:chExt cx="21341245" cy="14832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41333" cy="1483360"/>
            </a:xfrm>
            <a:custGeom>
              <a:avLst/>
              <a:gdLst/>
              <a:ahLst/>
              <a:cxnLst/>
              <a:rect r="r" b="b" t="t" l="l"/>
              <a:pathLst>
                <a:path h="1483360" w="2134133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1094064" y="0"/>
                  </a:lnTo>
                  <a:cubicBezTo>
                    <a:pt x="21230589" y="0"/>
                    <a:pt x="21341333" y="110744"/>
                    <a:pt x="21341333" y="247269"/>
                  </a:cubicBezTo>
                  <a:lnTo>
                    <a:pt x="21341333" y="1236091"/>
                  </a:lnTo>
                  <a:cubicBezTo>
                    <a:pt x="21341333" y="1372616"/>
                    <a:pt x="21230589" y="1483360"/>
                    <a:pt x="2109406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0009" y="2116207"/>
            <a:ext cx="640728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E69B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62254" y="2084556"/>
            <a:ext cx="777862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2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Career Guidance Assistant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86479" y="2121532"/>
            <a:ext cx="5856875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Career and skill-based guidance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59621" y="3355896"/>
            <a:ext cx="16005934" cy="1112434"/>
            <a:chOff x="0" y="0"/>
            <a:chExt cx="21341245" cy="1483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41333" cy="1483360"/>
            </a:xfrm>
            <a:custGeom>
              <a:avLst/>
              <a:gdLst/>
              <a:ahLst/>
              <a:cxnLst/>
              <a:rect r="r" b="b" t="t" l="l"/>
              <a:pathLst>
                <a:path h="1483360" w="2134133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1094064" y="0"/>
                  </a:lnTo>
                  <a:cubicBezTo>
                    <a:pt x="21230589" y="0"/>
                    <a:pt x="21341333" y="110744"/>
                    <a:pt x="21341333" y="247269"/>
                  </a:cubicBezTo>
                  <a:lnTo>
                    <a:pt x="21341333" y="1236091"/>
                  </a:lnTo>
                  <a:cubicBezTo>
                    <a:pt x="21341333" y="1372616"/>
                    <a:pt x="21230589" y="1483360"/>
                    <a:pt x="2109406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670009" y="3557521"/>
            <a:ext cx="640728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A8B9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2254" y="3525860"/>
            <a:ext cx="777862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2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Internship Recommendation Engine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86479" y="3562845"/>
            <a:ext cx="5856875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Personalized internship recommendations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59621" y="4797200"/>
            <a:ext cx="16005934" cy="1112434"/>
            <a:chOff x="0" y="0"/>
            <a:chExt cx="21341245" cy="14832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41333" cy="1483360"/>
            </a:xfrm>
            <a:custGeom>
              <a:avLst/>
              <a:gdLst/>
              <a:ahLst/>
              <a:cxnLst/>
              <a:rect r="r" b="b" t="t" l="l"/>
              <a:pathLst>
                <a:path h="1483360" w="2134133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1094064" y="0"/>
                  </a:lnTo>
                  <a:cubicBezTo>
                    <a:pt x="21230589" y="0"/>
                    <a:pt x="21341333" y="110744"/>
                    <a:pt x="21341333" y="247269"/>
                  </a:cubicBezTo>
                  <a:lnTo>
                    <a:pt x="21341333" y="1236091"/>
                  </a:lnTo>
                  <a:cubicBezTo>
                    <a:pt x="21341333" y="1372616"/>
                    <a:pt x="21230589" y="1483360"/>
                    <a:pt x="2109406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670009" y="4998825"/>
            <a:ext cx="640728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6F56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62254" y="4967173"/>
            <a:ext cx="777862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2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Registration Assistant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86479" y="5004149"/>
            <a:ext cx="5856875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Conversational registration support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59621" y="6238513"/>
            <a:ext cx="16005934" cy="1112434"/>
            <a:chOff x="0" y="0"/>
            <a:chExt cx="21341245" cy="14832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41333" cy="1483360"/>
            </a:xfrm>
            <a:custGeom>
              <a:avLst/>
              <a:gdLst/>
              <a:ahLst/>
              <a:cxnLst/>
              <a:rect r="r" b="b" t="t" l="l"/>
              <a:pathLst>
                <a:path h="1483360" w="2134133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1094064" y="0"/>
                  </a:lnTo>
                  <a:cubicBezTo>
                    <a:pt x="21230589" y="0"/>
                    <a:pt x="21341333" y="110744"/>
                    <a:pt x="21341333" y="247269"/>
                  </a:cubicBezTo>
                  <a:lnTo>
                    <a:pt x="21341333" y="1236091"/>
                  </a:lnTo>
                  <a:cubicBezTo>
                    <a:pt x="21341333" y="1372616"/>
                    <a:pt x="21230589" y="1483360"/>
                    <a:pt x="2109406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670009" y="6440129"/>
            <a:ext cx="640728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DE84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62254" y="6408477"/>
            <a:ext cx="777862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2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Resume Reviewer &amp; ATS Optimizer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86479" y="6445453"/>
            <a:ext cx="5856875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Resume analysis and job-description matching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9621" y="7679817"/>
            <a:ext cx="16005934" cy="1112434"/>
            <a:chOff x="0" y="0"/>
            <a:chExt cx="21341245" cy="14832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41333" cy="1483360"/>
            </a:xfrm>
            <a:custGeom>
              <a:avLst/>
              <a:gdLst/>
              <a:ahLst/>
              <a:cxnLst/>
              <a:rect r="r" b="b" t="t" l="l"/>
              <a:pathLst>
                <a:path h="1483360" w="21341333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21094064" y="0"/>
                  </a:lnTo>
                  <a:cubicBezTo>
                    <a:pt x="21230589" y="0"/>
                    <a:pt x="21341333" y="110744"/>
                    <a:pt x="21341333" y="247269"/>
                  </a:cubicBezTo>
                  <a:lnTo>
                    <a:pt x="21341333" y="1236091"/>
                  </a:lnTo>
                  <a:cubicBezTo>
                    <a:pt x="21341333" y="1372616"/>
                    <a:pt x="21230589" y="1483360"/>
                    <a:pt x="21094064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670009" y="7881433"/>
            <a:ext cx="640728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488E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62254" y="7849781"/>
            <a:ext cx="7778620" cy="642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2E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Project Topic Recommender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86479" y="7886757"/>
            <a:ext cx="5856875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topic recommendations using text similarity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AI Career Guidance Assistant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Project overview and implementation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719" y="1983229"/>
            <a:ext cx="5161817" cy="2141944"/>
            <a:chOff x="0" y="0"/>
            <a:chExt cx="6882422" cy="2855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54293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PURPOSE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479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Provides personalized career guidance from skills, interests and goals.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44415" y="1983229"/>
            <a:ext cx="5161817" cy="2141944"/>
            <a:chOff x="0" y="0"/>
            <a:chExt cx="6882422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44989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86165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Students may be unsure which career paths match their profile.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35101" y="1983229"/>
            <a:ext cx="5367718" cy="2141944"/>
            <a:chOff x="0" y="0"/>
            <a:chExt cx="7156958" cy="2855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56958" cy="2855976"/>
            </a:xfrm>
            <a:custGeom>
              <a:avLst/>
              <a:gdLst/>
              <a:ahLst/>
              <a:cxnLst/>
              <a:rect r="r" b="b" t="t" l="l"/>
              <a:pathLst>
                <a:path h="2855976" w="7156958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680962" y="0"/>
                  </a:lnTo>
                  <a:cubicBezTo>
                    <a:pt x="6943852" y="0"/>
                    <a:pt x="7156958" y="213106"/>
                    <a:pt x="7156958" y="475996"/>
                  </a:cubicBezTo>
                  <a:lnTo>
                    <a:pt x="7156958" y="2379980"/>
                  </a:lnTo>
                  <a:cubicBezTo>
                    <a:pt x="7156958" y="2642870"/>
                    <a:pt x="6943852" y="2855976"/>
                    <a:pt x="6680962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35675" y="2214543"/>
            <a:ext cx="462147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KEY 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6861" y="2832240"/>
            <a:ext cx="4552836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Skill/interest analysis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Career ranking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Conversational guidance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3719" y="4591307"/>
            <a:ext cx="16349101" cy="1712950"/>
            <a:chOff x="0" y="0"/>
            <a:chExt cx="21798801" cy="22839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98914" cy="2284048"/>
            </a:xfrm>
            <a:custGeom>
              <a:avLst/>
              <a:gdLst/>
              <a:ahLst/>
              <a:cxnLst/>
              <a:rect r="r" b="b" t="t" l="l"/>
              <a:pathLst>
                <a:path h="2284048" w="21798914">
                  <a:moveTo>
                    <a:pt x="0" y="380750"/>
                  </a:moveTo>
                  <a:cubicBezTo>
                    <a:pt x="0" y="170526"/>
                    <a:pt x="110744" y="0"/>
                    <a:pt x="247269" y="0"/>
                  </a:cubicBezTo>
                  <a:lnTo>
                    <a:pt x="21551646" y="0"/>
                  </a:lnTo>
                  <a:cubicBezTo>
                    <a:pt x="21688171" y="0"/>
                    <a:pt x="21798914" y="170526"/>
                    <a:pt x="21798914" y="380750"/>
                  </a:cubicBezTo>
                  <a:lnTo>
                    <a:pt x="21798914" y="1903360"/>
                  </a:lnTo>
                  <a:cubicBezTo>
                    <a:pt x="21798914" y="2113584"/>
                    <a:pt x="21688171" y="2284048"/>
                    <a:pt x="21551646" y="2284048"/>
                  </a:cubicBezTo>
                  <a:lnTo>
                    <a:pt x="247269" y="2284048"/>
                  </a:lnTo>
                  <a:cubicBezTo>
                    <a:pt x="110744" y="2283914"/>
                    <a:pt x="0" y="2113584"/>
                    <a:pt x="0" y="190336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54293" y="4725248"/>
            <a:ext cx="15602855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TECHNOLOGIES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4293" y="5278126"/>
            <a:ext cx="174188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Python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NLP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Machine Learning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2356" y="6856209"/>
            <a:ext cx="2828277" cy="1043803"/>
            <a:chOff x="0" y="0"/>
            <a:chExt cx="3771036" cy="13917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rot="252300">
            <a:off x="3823716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316768" y="6856209"/>
            <a:ext cx="2828277" cy="1043803"/>
            <a:chOff x="0" y="0"/>
            <a:chExt cx="3771036" cy="13917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rot="252300">
            <a:off x="7118128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7611180" y="6856209"/>
            <a:ext cx="2828277" cy="1043803"/>
            <a:chOff x="0" y="0"/>
            <a:chExt cx="3771036" cy="13917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rot="252300">
            <a:off x="10412549" y="7368588"/>
            <a:ext cx="51996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0943673" y="6856209"/>
            <a:ext cx="2828277" cy="1043803"/>
            <a:chOff x="0" y="0"/>
            <a:chExt cx="3771036" cy="13917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695384" y="7235224"/>
            <a:ext cx="231772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S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tudent Input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956674" y="7235224"/>
            <a:ext cx="231772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Profil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 Analysis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47696" y="7235224"/>
            <a:ext cx="231772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Care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er Ranking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65883" y="7235224"/>
            <a:ext cx="231772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Guidance 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AI Registration Assistant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Project overview and implementation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719" y="1983229"/>
            <a:ext cx="5161817" cy="2141944"/>
            <a:chOff x="0" y="0"/>
            <a:chExt cx="6882422" cy="2855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54293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PURPOSE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479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Guides users through registration using conversational interaction and validation.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44415" y="1983229"/>
            <a:ext cx="5161817" cy="2141944"/>
            <a:chOff x="0" y="0"/>
            <a:chExt cx="6882422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44989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86165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Users can face confusion or errors during registration.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35101" y="1983229"/>
            <a:ext cx="5367718" cy="2141944"/>
            <a:chOff x="0" y="0"/>
            <a:chExt cx="7156958" cy="2855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56958" cy="2855976"/>
            </a:xfrm>
            <a:custGeom>
              <a:avLst/>
              <a:gdLst/>
              <a:ahLst/>
              <a:cxnLst/>
              <a:rect r="r" b="b" t="t" l="l"/>
              <a:pathLst>
                <a:path h="2855976" w="7156958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680962" y="0"/>
                  </a:lnTo>
                  <a:cubicBezTo>
                    <a:pt x="6943852" y="0"/>
                    <a:pt x="7156958" y="213106"/>
                    <a:pt x="7156958" y="475996"/>
                  </a:cubicBezTo>
                  <a:lnTo>
                    <a:pt x="7156958" y="2379980"/>
                  </a:lnTo>
                  <a:cubicBezTo>
                    <a:pt x="7156958" y="2642870"/>
                    <a:pt x="6943852" y="2855976"/>
                    <a:pt x="6680962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35675" y="2214543"/>
            <a:ext cx="462147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KEY 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6861" y="2832240"/>
            <a:ext cx="4552836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Intent recognition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Entity extraction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Input validation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Guided responses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3719" y="4591307"/>
            <a:ext cx="16349101" cy="1895716"/>
            <a:chOff x="0" y="0"/>
            <a:chExt cx="21798801" cy="25276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98914" cy="2527736"/>
            </a:xfrm>
            <a:custGeom>
              <a:avLst/>
              <a:gdLst/>
              <a:ahLst/>
              <a:cxnLst/>
              <a:rect r="r" b="b" t="t" l="l"/>
              <a:pathLst>
                <a:path h="2527736" w="21798914">
                  <a:moveTo>
                    <a:pt x="0" y="421375"/>
                  </a:moveTo>
                  <a:cubicBezTo>
                    <a:pt x="0" y="188721"/>
                    <a:pt x="110744" y="0"/>
                    <a:pt x="247269" y="0"/>
                  </a:cubicBezTo>
                  <a:lnTo>
                    <a:pt x="21551646" y="0"/>
                  </a:lnTo>
                  <a:cubicBezTo>
                    <a:pt x="21688171" y="0"/>
                    <a:pt x="21798914" y="188721"/>
                    <a:pt x="21798914" y="421375"/>
                  </a:cubicBezTo>
                  <a:lnTo>
                    <a:pt x="21798914" y="2106442"/>
                  </a:lnTo>
                  <a:cubicBezTo>
                    <a:pt x="21798914" y="2339096"/>
                    <a:pt x="21688171" y="2527736"/>
                    <a:pt x="21551646" y="2527736"/>
                  </a:cubicBezTo>
                  <a:lnTo>
                    <a:pt x="247269" y="2527736"/>
                  </a:lnTo>
                  <a:cubicBezTo>
                    <a:pt x="110744" y="2527600"/>
                    <a:pt x="0" y="2339096"/>
                    <a:pt x="0" y="2106442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54293" y="4822622"/>
            <a:ext cx="15602855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TECHNOLOGIES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5479" y="5289775"/>
            <a:ext cx="117321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Python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NLTK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Scikit-learn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Regex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2356" y="6856209"/>
            <a:ext cx="2828277" cy="1043803"/>
            <a:chOff x="0" y="0"/>
            <a:chExt cx="3771036" cy="13917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rot="252300">
            <a:off x="3823716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316768" y="6856209"/>
            <a:ext cx="2828277" cy="1043803"/>
            <a:chOff x="0" y="0"/>
            <a:chExt cx="3771036" cy="13917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rot="252300">
            <a:off x="7118128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7611180" y="6856209"/>
            <a:ext cx="2828277" cy="1043803"/>
            <a:chOff x="0" y="0"/>
            <a:chExt cx="3771036" cy="13917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rot="252300">
            <a:off x="10412549" y="7368588"/>
            <a:ext cx="51996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0905592" y="6856209"/>
            <a:ext cx="2828277" cy="1043803"/>
            <a:chOff x="0" y="0"/>
            <a:chExt cx="3771036" cy="13917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 rot="252300">
            <a:off x="13706961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4200013" y="6856209"/>
            <a:ext cx="2828277" cy="1043803"/>
            <a:chOff x="0" y="0"/>
            <a:chExt cx="3771036" cy="13917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582203" y="7182348"/>
            <a:ext cx="198674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Us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er Input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776490" y="7182348"/>
            <a:ext cx="198674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Int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ent Recognition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278470" y="7235224"/>
            <a:ext cx="198674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Enti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ty Extraction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780233" y="7254288"/>
            <a:ext cx="198674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Valid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03021" y="7254286"/>
            <a:ext cx="198674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Resp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onse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AI Resume Reviewer &amp; ATS Optimizer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Project overview and implementation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719" y="1983229"/>
            <a:ext cx="5161817" cy="2141944"/>
            <a:chOff x="0" y="0"/>
            <a:chExt cx="6882422" cy="2855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54293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PURPOSE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479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Analyzes resumes and provides structured feedback, ATS checks and JD matching.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44415" y="1983229"/>
            <a:ext cx="5161817" cy="2141944"/>
            <a:chOff x="0" y="0"/>
            <a:chExt cx="6882422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44989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86165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Students need clear feedback on resume quality and job relevance.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35101" y="1983229"/>
            <a:ext cx="5367718" cy="2141944"/>
            <a:chOff x="0" y="0"/>
            <a:chExt cx="7156958" cy="2855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56958" cy="2855976"/>
            </a:xfrm>
            <a:custGeom>
              <a:avLst/>
              <a:gdLst/>
              <a:ahLst/>
              <a:cxnLst/>
              <a:rect r="r" b="b" t="t" l="l"/>
              <a:pathLst>
                <a:path h="2855976" w="7156958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680962" y="0"/>
                  </a:lnTo>
                  <a:cubicBezTo>
                    <a:pt x="6943852" y="0"/>
                    <a:pt x="7156958" y="213106"/>
                    <a:pt x="7156958" y="475996"/>
                  </a:cubicBezTo>
                  <a:lnTo>
                    <a:pt x="7156958" y="2379980"/>
                  </a:lnTo>
                  <a:cubicBezTo>
                    <a:pt x="7156958" y="2642870"/>
                    <a:pt x="6943852" y="2855976"/>
                    <a:pt x="6680962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35675" y="2214543"/>
            <a:ext cx="462147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KEY 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6861" y="2832240"/>
            <a:ext cx="4552836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PDF/DOCX/TXT parsing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Skill extraction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Experience &amp; education analysis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ATS checking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JD matching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Feedback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3719" y="4591307"/>
            <a:ext cx="16349101" cy="2052373"/>
            <a:chOff x="0" y="0"/>
            <a:chExt cx="21798801" cy="27364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98914" cy="2736611"/>
            </a:xfrm>
            <a:custGeom>
              <a:avLst/>
              <a:gdLst/>
              <a:ahLst/>
              <a:cxnLst/>
              <a:rect r="r" b="b" t="t" l="l"/>
              <a:pathLst>
                <a:path h="2736611" w="21798914">
                  <a:moveTo>
                    <a:pt x="0" y="456196"/>
                  </a:moveTo>
                  <a:cubicBezTo>
                    <a:pt x="0" y="204316"/>
                    <a:pt x="110744" y="0"/>
                    <a:pt x="247269" y="0"/>
                  </a:cubicBezTo>
                  <a:lnTo>
                    <a:pt x="21551646" y="0"/>
                  </a:lnTo>
                  <a:cubicBezTo>
                    <a:pt x="21688171" y="0"/>
                    <a:pt x="21798914" y="204316"/>
                    <a:pt x="21798914" y="456196"/>
                  </a:cubicBezTo>
                  <a:lnTo>
                    <a:pt x="21798914" y="2280512"/>
                  </a:lnTo>
                  <a:cubicBezTo>
                    <a:pt x="21798914" y="2532392"/>
                    <a:pt x="21688171" y="2736611"/>
                    <a:pt x="21551646" y="2736611"/>
                  </a:cubicBezTo>
                  <a:lnTo>
                    <a:pt x="247269" y="2736611"/>
                  </a:lnTo>
                  <a:cubicBezTo>
                    <a:pt x="110744" y="2736473"/>
                    <a:pt x="0" y="2532392"/>
                    <a:pt x="0" y="2280512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54293" y="4822622"/>
            <a:ext cx="15602855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TECHNOLOGIES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5479" y="5153873"/>
            <a:ext cx="1173212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Python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NLTK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Scikit-learn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Streamlit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Plotly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2356" y="6856209"/>
            <a:ext cx="2828277" cy="1043803"/>
            <a:chOff x="0" y="0"/>
            <a:chExt cx="3771036" cy="13917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rot="252300">
            <a:off x="3823716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316768" y="6856209"/>
            <a:ext cx="2828277" cy="1043803"/>
            <a:chOff x="0" y="0"/>
            <a:chExt cx="3771036" cy="13917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rot="252300">
            <a:off x="7118128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7611180" y="6856209"/>
            <a:ext cx="2828277" cy="1043803"/>
            <a:chOff x="0" y="0"/>
            <a:chExt cx="3771036" cy="13917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rot="252300">
            <a:off x="10412549" y="7368588"/>
            <a:ext cx="51996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0905592" y="6856209"/>
            <a:ext cx="2828277" cy="1043803"/>
            <a:chOff x="0" y="0"/>
            <a:chExt cx="3771036" cy="13917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 rot="252300">
            <a:off x="13706961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4200013" y="6856209"/>
            <a:ext cx="2828277" cy="1043803"/>
            <a:chOff x="0" y="0"/>
            <a:chExt cx="3771036" cy="13917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808973" y="7273351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R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esume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38021" y="7254286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Par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sing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96391" y="7273351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NLP Analy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sis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54761" y="7292416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ATS/JD Check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87015" y="7292416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Score &amp; Feedback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AI Project Topic Recommender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Project overview and implementation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719" y="1983229"/>
            <a:ext cx="5161817" cy="2141944"/>
            <a:chOff x="0" y="0"/>
            <a:chExt cx="6882422" cy="28559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54293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PURPOSE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479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Suggests suitable project topics using student interests, skills and project data.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44415" y="1983229"/>
            <a:ext cx="5161817" cy="2141944"/>
            <a:chOff x="0" y="0"/>
            <a:chExt cx="6882422" cy="2855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2384" cy="2855976"/>
            </a:xfrm>
            <a:custGeom>
              <a:avLst/>
              <a:gdLst/>
              <a:ahLst/>
              <a:cxnLst/>
              <a:rect r="r" b="b" t="t" l="l"/>
              <a:pathLst>
                <a:path h="2855976" w="688238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406388" y="0"/>
                  </a:lnTo>
                  <a:cubicBezTo>
                    <a:pt x="6669278" y="0"/>
                    <a:pt x="6882384" y="213106"/>
                    <a:pt x="6882384" y="475996"/>
                  </a:cubicBezTo>
                  <a:lnTo>
                    <a:pt x="6882384" y="2379980"/>
                  </a:lnTo>
                  <a:cubicBezTo>
                    <a:pt x="6882384" y="2642870"/>
                    <a:pt x="6669278" y="2855976"/>
                    <a:pt x="640638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44989" y="2214543"/>
            <a:ext cx="44155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86165" y="2832240"/>
            <a:ext cx="434694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Choosing a suitable project topic can be difficult without structured recommendations.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35101" y="1983229"/>
            <a:ext cx="5367718" cy="2141944"/>
            <a:chOff x="0" y="0"/>
            <a:chExt cx="7156958" cy="28559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56958" cy="2855976"/>
            </a:xfrm>
            <a:custGeom>
              <a:avLst/>
              <a:gdLst/>
              <a:ahLst/>
              <a:cxnLst/>
              <a:rect r="r" b="b" t="t" l="l"/>
              <a:pathLst>
                <a:path h="2855976" w="7156958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680962" y="0"/>
                  </a:lnTo>
                  <a:cubicBezTo>
                    <a:pt x="6943852" y="0"/>
                    <a:pt x="7156958" y="213106"/>
                    <a:pt x="7156958" y="475996"/>
                  </a:cubicBezTo>
                  <a:lnTo>
                    <a:pt x="7156958" y="2379980"/>
                  </a:lnTo>
                  <a:cubicBezTo>
                    <a:pt x="7156958" y="2642870"/>
                    <a:pt x="6943852" y="2855976"/>
                    <a:pt x="6680962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35675" y="2214543"/>
            <a:ext cx="462147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KEY 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76861" y="2832240"/>
            <a:ext cx="4552836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Text preprocessing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TF-IDF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Cosine similarity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Top-N recommendations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3719" y="4591307"/>
            <a:ext cx="16349101" cy="1965293"/>
            <a:chOff x="0" y="0"/>
            <a:chExt cx="21798801" cy="2620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98914" cy="2620505"/>
            </a:xfrm>
            <a:custGeom>
              <a:avLst/>
              <a:gdLst/>
              <a:ahLst/>
              <a:cxnLst/>
              <a:rect r="r" b="b" t="t" l="l"/>
              <a:pathLst>
                <a:path h="2620505" w="21798914">
                  <a:moveTo>
                    <a:pt x="0" y="436840"/>
                  </a:moveTo>
                  <a:cubicBezTo>
                    <a:pt x="0" y="195647"/>
                    <a:pt x="110744" y="0"/>
                    <a:pt x="247269" y="0"/>
                  </a:cubicBezTo>
                  <a:lnTo>
                    <a:pt x="21551646" y="0"/>
                  </a:lnTo>
                  <a:cubicBezTo>
                    <a:pt x="21688171" y="0"/>
                    <a:pt x="21798914" y="195647"/>
                    <a:pt x="21798914" y="436840"/>
                  </a:cubicBezTo>
                  <a:lnTo>
                    <a:pt x="21798914" y="2183753"/>
                  </a:lnTo>
                  <a:cubicBezTo>
                    <a:pt x="21798914" y="2424946"/>
                    <a:pt x="21688171" y="2620505"/>
                    <a:pt x="21551646" y="2620505"/>
                  </a:cubicBezTo>
                  <a:lnTo>
                    <a:pt x="247269" y="2620505"/>
                  </a:lnTo>
                  <a:cubicBezTo>
                    <a:pt x="110744" y="2620369"/>
                    <a:pt x="0" y="2424946"/>
                    <a:pt x="0" y="2183753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54293" y="4822622"/>
            <a:ext cx="15602855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TECHNOLOGIES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5479" y="5270725"/>
            <a:ext cx="1173212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Python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Flask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Pandas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Scikit-learn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NLTK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22356" y="6856209"/>
            <a:ext cx="2828277" cy="1043803"/>
            <a:chOff x="0" y="0"/>
            <a:chExt cx="3771036" cy="13917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rot="252300">
            <a:off x="3823716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316768" y="6856209"/>
            <a:ext cx="2828277" cy="1043803"/>
            <a:chOff x="0" y="0"/>
            <a:chExt cx="3771036" cy="13917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 rot="252300">
            <a:off x="7118128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7611180" y="6856209"/>
            <a:ext cx="2828277" cy="1043803"/>
            <a:chOff x="0" y="0"/>
            <a:chExt cx="3771036" cy="13917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rot="252300">
            <a:off x="10412549" y="7368588"/>
            <a:ext cx="51996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0905592" y="6856209"/>
            <a:ext cx="2828277" cy="1043803"/>
            <a:chOff x="0" y="0"/>
            <a:chExt cx="3771036" cy="13917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 rot="252300">
            <a:off x="13706961" y="7368588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4200013" y="6856209"/>
            <a:ext cx="2828277" cy="1043803"/>
            <a:chOff x="0" y="0"/>
            <a:chExt cx="3771036" cy="13917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547879" y="7235224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Student Profile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64159" y="7273351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T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ext Processing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602837" y="7235224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TF-IDF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31114" y="7213825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Similarity Ranking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750804" y="7273351"/>
            <a:ext cx="230275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Topic Suggestions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Technologies &amp; Tools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Technologies used across the five projects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1983229"/>
            <a:ext cx="5024552" cy="2347846"/>
            <a:chOff x="0" y="0"/>
            <a:chExt cx="6699402" cy="31304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9377" cy="3130423"/>
            </a:xfrm>
            <a:custGeom>
              <a:avLst/>
              <a:gdLst/>
              <a:ahLst/>
              <a:cxnLst/>
              <a:rect r="r" b="b" t="t" l="l"/>
              <a:pathLst>
                <a:path h="3130423" w="6699377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177661" y="0"/>
                  </a:lnTo>
                  <a:cubicBezTo>
                    <a:pt x="6465824" y="0"/>
                    <a:pt x="6699377" y="233553"/>
                    <a:pt x="6699377" y="521716"/>
                  </a:cubicBezTo>
                  <a:lnTo>
                    <a:pt x="6699377" y="2608707"/>
                  </a:lnTo>
                  <a:cubicBezTo>
                    <a:pt x="6699377" y="2896870"/>
                    <a:pt x="6465824" y="3130423"/>
                    <a:pt x="617766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22930" y="221454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Programming &amp;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2832240"/>
            <a:ext cx="4209669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Python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Pandas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NumPy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3043" y="1983229"/>
            <a:ext cx="5024552" cy="2347846"/>
            <a:chOff x="0" y="0"/>
            <a:chExt cx="6699402" cy="31304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9377" cy="3130423"/>
            </a:xfrm>
            <a:custGeom>
              <a:avLst/>
              <a:gdLst/>
              <a:ahLst/>
              <a:cxnLst/>
              <a:rect r="r" b="b" t="t" l="l"/>
              <a:pathLst>
                <a:path h="3130423" w="6699377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177661" y="0"/>
                  </a:lnTo>
                  <a:cubicBezTo>
                    <a:pt x="6465824" y="0"/>
                    <a:pt x="6699377" y="233553"/>
                    <a:pt x="6699377" y="521716"/>
                  </a:cubicBezTo>
                  <a:lnTo>
                    <a:pt x="6699377" y="2608707"/>
                  </a:lnTo>
                  <a:cubicBezTo>
                    <a:pt x="6699377" y="2896870"/>
                    <a:pt x="6465824" y="3130423"/>
                    <a:pt x="617766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913626" y="221454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AI / NLP / ML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4803" y="2832240"/>
            <a:ext cx="4209669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Scikit-learn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NLTK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TF-IDF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Cosine Similarity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03738" y="1983229"/>
            <a:ext cx="5024552" cy="2347846"/>
            <a:chOff x="0" y="0"/>
            <a:chExt cx="6699402" cy="31304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99377" cy="3130423"/>
            </a:xfrm>
            <a:custGeom>
              <a:avLst/>
              <a:gdLst/>
              <a:ahLst/>
              <a:cxnLst/>
              <a:rect r="r" b="b" t="t" l="l"/>
              <a:pathLst>
                <a:path h="3130423" w="6699377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177661" y="0"/>
                  </a:lnTo>
                  <a:cubicBezTo>
                    <a:pt x="6465824" y="0"/>
                    <a:pt x="6699377" y="233553"/>
                    <a:pt x="6699377" y="521716"/>
                  </a:cubicBezTo>
                  <a:lnTo>
                    <a:pt x="6699377" y="2608707"/>
                  </a:lnTo>
                  <a:cubicBezTo>
                    <a:pt x="6699377" y="2896870"/>
                    <a:pt x="6465824" y="3130423"/>
                    <a:pt x="617766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404312" y="221454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Application Interfaces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5489" y="2832240"/>
            <a:ext cx="4209669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Streamlit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Flask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2356" y="5003102"/>
            <a:ext cx="5024552" cy="2347846"/>
            <a:chOff x="0" y="0"/>
            <a:chExt cx="6699402" cy="31304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9377" cy="3130423"/>
            </a:xfrm>
            <a:custGeom>
              <a:avLst/>
              <a:gdLst/>
              <a:ahLst/>
              <a:cxnLst/>
              <a:rect r="r" b="b" t="t" l="l"/>
              <a:pathLst>
                <a:path h="3130423" w="6699377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177661" y="0"/>
                  </a:lnTo>
                  <a:cubicBezTo>
                    <a:pt x="6465824" y="0"/>
                    <a:pt x="6699377" y="233553"/>
                    <a:pt x="6699377" y="521716"/>
                  </a:cubicBezTo>
                  <a:lnTo>
                    <a:pt x="6699377" y="2608707"/>
                  </a:lnTo>
                  <a:cubicBezTo>
                    <a:pt x="6699377" y="2896870"/>
                    <a:pt x="6465824" y="3130423"/>
                    <a:pt x="617766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22930" y="523442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File Processing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4116" y="5852122"/>
            <a:ext cx="4209669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pypdf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python-docx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PDF/DOCX/TXT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13043" y="5003102"/>
            <a:ext cx="5024552" cy="2347846"/>
            <a:chOff x="0" y="0"/>
            <a:chExt cx="6699402" cy="31304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99377" cy="3130423"/>
            </a:xfrm>
            <a:custGeom>
              <a:avLst/>
              <a:gdLst/>
              <a:ahLst/>
              <a:cxnLst/>
              <a:rect r="r" b="b" t="t" l="l"/>
              <a:pathLst>
                <a:path h="3130423" w="6699377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177661" y="0"/>
                  </a:lnTo>
                  <a:cubicBezTo>
                    <a:pt x="6465824" y="0"/>
                    <a:pt x="6699377" y="233553"/>
                    <a:pt x="6699377" y="521716"/>
                  </a:cubicBezTo>
                  <a:lnTo>
                    <a:pt x="6699377" y="2608707"/>
                  </a:lnTo>
                  <a:cubicBezTo>
                    <a:pt x="6699377" y="2896870"/>
                    <a:pt x="6465824" y="3130423"/>
                    <a:pt x="617766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913626" y="523442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Development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54803" y="5852122"/>
            <a:ext cx="4209669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VS Code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Git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GitHub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03738" y="5003102"/>
            <a:ext cx="5024552" cy="2347846"/>
            <a:chOff x="0" y="0"/>
            <a:chExt cx="6699402" cy="31304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99377" cy="3130423"/>
            </a:xfrm>
            <a:custGeom>
              <a:avLst/>
              <a:gdLst/>
              <a:ahLst/>
              <a:cxnLst/>
              <a:rect r="r" b="b" t="t" l="l"/>
              <a:pathLst>
                <a:path h="3130423" w="6699377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6177661" y="0"/>
                  </a:lnTo>
                  <a:cubicBezTo>
                    <a:pt x="6465824" y="0"/>
                    <a:pt x="6699377" y="233553"/>
                    <a:pt x="6699377" y="521716"/>
                  </a:cubicBezTo>
                  <a:lnTo>
                    <a:pt x="6699377" y="2608707"/>
                  </a:lnTo>
                  <a:cubicBezTo>
                    <a:pt x="6699377" y="2896870"/>
                    <a:pt x="6465824" y="3130423"/>
                    <a:pt x="6177661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404312" y="523442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Testing &amp; Visualization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45489" y="5852122"/>
            <a:ext cx="4209669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Testing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Debugging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Plotly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Development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A common development cycle followed across the projects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2875464"/>
            <a:ext cx="2828277" cy="1043803"/>
            <a:chOff x="0" y="0"/>
            <a:chExt cx="3771036" cy="13917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252300">
            <a:off x="3823716" y="3387842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316768" y="2875464"/>
            <a:ext cx="2828277" cy="1043803"/>
            <a:chOff x="0" y="0"/>
            <a:chExt cx="3771036" cy="13917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rot="252300">
            <a:off x="7118128" y="3387842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611180" y="2875464"/>
            <a:ext cx="2828277" cy="1043803"/>
            <a:chOff x="0" y="0"/>
            <a:chExt cx="3771036" cy="13917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rot="252300">
            <a:off x="10412549" y="3387842"/>
            <a:ext cx="51996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879383" y="2818276"/>
            <a:ext cx="2828277" cy="1043803"/>
            <a:chOff x="0" y="0"/>
            <a:chExt cx="3771036" cy="13917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rot="252300">
            <a:off x="13706961" y="3387842"/>
            <a:ext cx="519970" cy="0"/>
          </a:xfrm>
          <a:prstGeom prst="line">
            <a:avLst/>
          </a:prstGeom>
          <a:ln cap="rnd" w="19050">
            <a:solidFill>
              <a:srgbClr val="6771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4200013" y="2875464"/>
            <a:ext cx="2828277" cy="1043803"/>
            <a:chOff x="0" y="0"/>
            <a:chExt cx="3771036" cy="139173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0884" cy="1391661"/>
            </a:xfrm>
            <a:custGeom>
              <a:avLst/>
              <a:gdLst/>
              <a:ahLst/>
              <a:cxnLst/>
              <a:rect r="r" b="b" t="t" l="l"/>
              <a:pathLst>
                <a:path h="1391661" w="3770884">
                  <a:moveTo>
                    <a:pt x="0" y="231901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538982" y="0"/>
                  </a:lnTo>
                  <a:cubicBezTo>
                    <a:pt x="3667125" y="0"/>
                    <a:pt x="3770884" y="103886"/>
                    <a:pt x="3770884" y="231901"/>
                  </a:cubicBezTo>
                  <a:lnTo>
                    <a:pt x="3770884" y="1159760"/>
                  </a:lnTo>
                  <a:cubicBezTo>
                    <a:pt x="3770884" y="1287902"/>
                    <a:pt x="3666998" y="1391661"/>
                    <a:pt x="3538982" y="1391661"/>
                  </a:cubicBezTo>
                  <a:lnTo>
                    <a:pt x="231902" y="1391661"/>
                  </a:lnTo>
                  <a:cubicBezTo>
                    <a:pt x="103886" y="1391788"/>
                    <a:pt x="0" y="1287902"/>
                    <a:pt x="0" y="1159760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771036" cy="142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9621" y="5620807"/>
            <a:ext cx="5093189" cy="1936042"/>
            <a:chOff x="0" y="0"/>
            <a:chExt cx="6790919" cy="25813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90944" cy="2581402"/>
            </a:xfrm>
            <a:custGeom>
              <a:avLst/>
              <a:gdLst/>
              <a:ahLst/>
              <a:cxnLst/>
              <a:rect r="r" b="b" t="t" l="l"/>
              <a:pathLst>
                <a:path h="2581402" w="679094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6360668" y="0"/>
                  </a:lnTo>
                  <a:cubicBezTo>
                    <a:pt x="6598285" y="0"/>
                    <a:pt x="6790944" y="192659"/>
                    <a:pt x="6790944" y="430276"/>
                  </a:cubicBezTo>
                  <a:lnTo>
                    <a:pt x="6790944" y="2151126"/>
                  </a:lnTo>
                  <a:cubicBezTo>
                    <a:pt x="6790944" y="2388743"/>
                    <a:pt x="6598285" y="2581402"/>
                    <a:pt x="636066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560195" y="5852122"/>
            <a:ext cx="434694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FOCUS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01381" y="6469828"/>
            <a:ext cx="427830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Modular code structure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Input processing and validation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AI/NLP logic integration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581680" y="5620807"/>
            <a:ext cx="5093189" cy="1936042"/>
            <a:chOff x="0" y="0"/>
            <a:chExt cx="6790919" cy="25813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90944" cy="2581402"/>
            </a:xfrm>
            <a:custGeom>
              <a:avLst/>
              <a:gdLst/>
              <a:ahLst/>
              <a:cxnLst/>
              <a:rect r="r" b="b" t="t" l="l"/>
              <a:pathLst>
                <a:path h="2581402" w="679094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6360668" y="0"/>
                  </a:lnTo>
                  <a:cubicBezTo>
                    <a:pt x="6598285" y="0"/>
                    <a:pt x="6790944" y="192659"/>
                    <a:pt x="6790944" y="430276"/>
                  </a:cubicBezTo>
                  <a:lnTo>
                    <a:pt x="6790944" y="2151126"/>
                  </a:lnTo>
                  <a:cubicBezTo>
                    <a:pt x="6790944" y="2388743"/>
                    <a:pt x="6598285" y="2581402"/>
                    <a:pt x="636066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6982254" y="5852122"/>
            <a:ext cx="434694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QUALITY PRACTICES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23440" y="6469828"/>
            <a:ext cx="4278306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Component testing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Debugging and error handling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Testing with different inputs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03738" y="5620807"/>
            <a:ext cx="5093189" cy="1936042"/>
            <a:chOff x="0" y="0"/>
            <a:chExt cx="6790919" cy="25813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90944" cy="2581402"/>
            </a:xfrm>
            <a:custGeom>
              <a:avLst/>
              <a:gdLst/>
              <a:ahLst/>
              <a:cxnLst/>
              <a:rect r="r" b="b" t="t" l="l"/>
              <a:pathLst>
                <a:path h="2581402" w="679094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6360668" y="0"/>
                  </a:lnTo>
                  <a:cubicBezTo>
                    <a:pt x="6598285" y="0"/>
                    <a:pt x="6790944" y="192659"/>
                    <a:pt x="6790944" y="430276"/>
                  </a:cubicBezTo>
                  <a:lnTo>
                    <a:pt x="6790944" y="2151126"/>
                  </a:lnTo>
                  <a:cubicBezTo>
                    <a:pt x="6790944" y="2388743"/>
                    <a:pt x="6598285" y="2581402"/>
                    <a:pt x="636066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404312" y="5852122"/>
            <a:ext cx="434694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DELIVERY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45489" y="6469828"/>
            <a:ext cx="4278306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Local application execution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UI integration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Final output validation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01381" y="3292606"/>
            <a:ext cx="427830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R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equirement Analysis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47012" y="3254479"/>
            <a:ext cx="427830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Plann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ing &amp; Design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74096" y="3193452"/>
            <a:ext cx="427830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Development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74869" y="3216352"/>
            <a:ext cx="427830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Int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egration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577784" y="3216352"/>
            <a:ext cx="427830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Testing &amp; D</a:t>
            </a: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ebugging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594789"/>
            <a:ext cx="15602855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22A4C"/>
                </a:solidFill>
                <a:latin typeface="Aptos Bold"/>
                <a:ea typeface="Aptos Bold"/>
                <a:cs typeface="Aptos Bold"/>
                <a:sym typeface="Aptos Bold"/>
              </a:rPr>
              <a:t>Key Learnings &amp; Skills Gained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861" y="1418396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67717D"/>
                </a:solidFill>
                <a:latin typeface="Aptos"/>
                <a:ea typeface="Aptos"/>
                <a:cs typeface="Aptos"/>
                <a:sym typeface="Aptos"/>
              </a:rPr>
              <a:t>Skills developed through practical project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06675" y="9625851"/>
            <a:ext cx="366189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2356" y="1914592"/>
            <a:ext cx="5024552" cy="1592875"/>
            <a:chOff x="0" y="0"/>
            <a:chExt cx="6699402" cy="2123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22930" y="214590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Python Programming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13043" y="1914592"/>
            <a:ext cx="5024552" cy="1592875"/>
            <a:chOff x="0" y="0"/>
            <a:chExt cx="6699402" cy="2123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913626" y="214590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NLP &amp; Text Processing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03738" y="1914592"/>
            <a:ext cx="5024552" cy="1592875"/>
            <a:chOff x="0" y="0"/>
            <a:chExt cx="6699402" cy="2123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404312" y="2145906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Machine Learning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2356" y="4042239"/>
            <a:ext cx="5024552" cy="1592875"/>
            <a:chOff x="0" y="0"/>
            <a:chExt cx="6699402" cy="21238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22930" y="427355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Recommendation Systems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13043" y="4042239"/>
            <a:ext cx="5024552" cy="1592875"/>
            <a:chOff x="0" y="0"/>
            <a:chExt cx="6699402" cy="21238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AF6ED"/>
            </a:solidFill>
            <a:ln w="14299" cap="sq">
              <a:solidFill>
                <a:srgbClr val="488E5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913626" y="427355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Streamlit / Flask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03738" y="4042239"/>
            <a:ext cx="5024552" cy="1592875"/>
            <a:chOff x="0" y="0"/>
            <a:chExt cx="6699402" cy="21238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404312" y="4273553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Testing &amp; Debugging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2356" y="6169876"/>
            <a:ext cx="5024552" cy="1592875"/>
            <a:chOff x="0" y="0"/>
            <a:chExt cx="6699402" cy="21238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422930" y="6401191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Git &amp; GitHub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13043" y="6169876"/>
            <a:ext cx="5024552" cy="1592875"/>
            <a:chOff x="0" y="0"/>
            <a:chExt cx="6699402" cy="21238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6913626" y="6401191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Problem Solving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003738" y="6169876"/>
            <a:ext cx="5024552" cy="1592875"/>
            <a:chOff x="0" y="0"/>
            <a:chExt cx="6699402" cy="21238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99377" cy="2123821"/>
            </a:xfrm>
            <a:custGeom>
              <a:avLst/>
              <a:gdLst/>
              <a:ahLst/>
              <a:cxnLst/>
              <a:rect r="r" b="b" t="t" l="l"/>
              <a:pathLst>
                <a:path h="2123821" w="6699377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6345428" y="0"/>
                  </a:lnTo>
                  <a:cubicBezTo>
                    <a:pt x="6540881" y="0"/>
                    <a:pt x="6699377" y="158496"/>
                    <a:pt x="6699377" y="353949"/>
                  </a:cubicBezTo>
                  <a:lnTo>
                    <a:pt x="6699377" y="1769872"/>
                  </a:lnTo>
                  <a:cubicBezTo>
                    <a:pt x="6699377" y="1965325"/>
                    <a:pt x="6540881" y="2123821"/>
                    <a:pt x="6345428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CF1E5"/>
            </a:solidFill>
            <a:ln w="14299" cap="sq">
              <a:solidFill>
                <a:srgbClr val="DE8437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404312" y="6401191"/>
            <a:ext cx="42783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User-Focused Design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22356" y="8572052"/>
            <a:ext cx="16005934" cy="700630"/>
            <a:chOff x="0" y="0"/>
            <a:chExt cx="21341245" cy="9341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41207" cy="934212"/>
            </a:xfrm>
            <a:custGeom>
              <a:avLst/>
              <a:gdLst/>
              <a:ahLst/>
              <a:cxnLst/>
              <a:rect r="r" b="b" t="t" l="l"/>
              <a:pathLst>
                <a:path h="934212" w="21341207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21185505" y="0"/>
                  </a:lnTo>
                  <a:cubicBezTo>
                    <a:pt x="21271485" y="0"/>
                    <a:pt x="21341207" y="69723"/>
                    <a:pt x="21341207" y="155702"/>
                  </a:cubicBezTo>
                  <a:lnTo>
                    <a:pt x="21341207" y="778510"/>
                  </a:lnTo>
                  <a:cubicBezTo>
                    <a:pt x="21341207" y="864489"/>
                    <a:pt x="21271485" y="934212"/>
                    <a:pt x="21185505" y="934212"/>
                  </a:cubicBezTo>
                  <a:lnTo>
                    <a:pt x="155702" y="934212"/>
                  </a:lnTo>
                  <a:cubicBezTo>
                    <a:pt x="69723" y="934212"/>
                    <a:pt x="0" y="864489"/>
                    <a:pt x="0" y="778510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122A4C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422930" y="8803367"/>
            <a:ext cx="1525968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OVERALL LEARNING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22A4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4861" y="9625851"/>
            <a:ext cx="9425826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67717D"/>
                </a:solidFill>
                <a:latin typeface="Calibri (MS)"/>
                <a:ea typeface="Calibri (MS)"/>
                <a:cs typeface="Calibri (MS)"/>
                <a:sym typeface="Calibri (MS)"/>
              </a:rPr>
              <a:t>Yash Malik  |  B.Tech CSE  |  Summer Internship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8214" y="2186807"/>
            <a:ext cx="15602855" cy="113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122A4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8214" y="3626148"/>
            <a:ext cx="14916512" cy="133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62E3A"/>
                </a:solidFill>
                <a:latin typeface="Calibri (MS)"/>
                <a:ea typeface="Calibri (MS)"/>
                <a:cs typeface="Calibri (MS)"/>
                <a:sym typeface="Calibri (MS)"/>
              </a:rPr>
              <a:t>The internship provided practical exposure to AI, NLP, Machine Learning and software development through multiple student-focused applications.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9621" y="5758072"/>
            <a:ext cx="4681385" cy="1730140"/>
            <a:chOff x="0" y="0"/>
            <a:chExt cx="6241847" cy="23068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41796" cy="2306828"/>
            </a:xfrm>
            <a:custGeom>
              <a:avLst/>
              <a:gdLst/>
              <a:ahLst/>
              <a:cxnLst/>
              <a:rect r="r" b="b" t="t" l="l"/>
              <a:pathLst>
                <a:path h="2306828" w="624179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5857367" y="0"/>
                  </a:lnTo>
                  <a:cubicBezTo>
                    <a:pt x="6069711" y="0"/>
                    <a:pt x="6241796" y="172085"/>
                    <a:pt x="6241796" y="384429"/>
                  </a:cubicBezTo>
                  <a:lnTo>
                    <a:pt x="6241796" y="1922399"/>
                  </a:lnTo>
                  <a:cubicBezTo>
                    <a:pt x="6241796" y="2134743"/>
                    <a:pt x="6069711" y="2306828"/>
                    <a:pt x="585736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E8F1FC"/>
            </a:solidFill>
            <a:ln w="14299" cap="sq">
              <a:solidFill>
                <a:srgbClr val="2E69B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60195" y="5989396"/>
            <a:ext cx="393513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STUDENT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381" y="6607092"/>
            <a:ext cx="3866502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Yash Malik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01239" y="5758072"/>
            <a:ext cx="4681385" cy="1730140"/>
            <a:chOff x="0" y="0"/>
            <a:chExt cx="6241847" cy="2306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41796" cy="2306828"/>
            </a:xfrm>
            <a:custGeom>
              <a:avLst/>
              <a:gdLst/>
              <a:ahLst/>
              <a:cxnLst/>
              <a:rect r="r" b="b" t="t" l="l"/>
              <a:pathLst>
                <a:path h="2306828" w="6241796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5857367" y="0"/>
                  </a:lnTo>
                  <a:cubicBezTo>
                    <a:pt x="6069711" y="0"/>
                    <a:pt x="6241796" y="172085"/>
                    <a:pt x="6241796" y="384429"/>
                  </a:cubicBezTo>
                  <a:lnTo>
                    <a:pt x="6241796" y="1922399"/>
                  </a:lnTo>
                  <a:cubicBezTo>
                    <a:pt x="6241796" y="2134743"/>
                    <a:pt x="6069711" y="2306828"/>
                    <a:pt x="5857367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E7F7F7"/>
            </a:solidFill>
            <a:ln w="14299" cap="sq">
              <a:solidFill>
                <a:srgbClr val="2A8B9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501822" y="5989396"/>
            <a:ext cx="393513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DEGREE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2999" y="6607092"/>
            <a:ext cx="3866502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B.Tech CSE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042866" y="5758072"/>
            <a:ext cx="5504993" cy="1730140"/>
            <a:chOff x="0" y="0"/>
            <a:chExt cx="7339990" cy="23068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9838" cy="2306828"/>
            </a:xfrm>
            <a:custGeom>
              <a:avLst/>
              <a:gdLst/>
              <a:ahLst/>
              <a:cxnLst/>
              <a:rect r="r" b="b" t="t" l="l"/>
              <a:pathLst>
                <a:path h="2306828" w="7339838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6955410" y="0"/>
                  </a:lnTo>
                  <a:cubicBezTo>
                    <a:pt x="7167753" y="0"/>
                    <a:pt x="7339838" y="172085"/>
                    <a:pt x="7339838" y="384429"/>
                  </a:cubicBezTo>
                  <a:lnTo>
                    <a:pt x="7339838" y="1922399"/>
                  </a:lnTo>
                  <a:cubicBezTo>
                    <a:pt x="7339838" y="2134743"/>
                    <a:pt x="7167753" y="2306828"/>
                    <a:pt x="6955410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1EDFA"/>
            </a:solidFill>
            <a:ln w="14299" cap="sq">
              <a:solidFill>
                <a:srgbClr val="6F56A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443440" y="5989396"/>
            <a:ext cx="475873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262E3A"/>
                </a:solidFill>
                <a:latin typeface="Aptos Bold"/>
                <a:ea typeface="Aptos Bold"/>
                <a:cs typeface="Aptos Bold"/>
                <a:sym typeface="Aptos Bold"/>
              </a:rPr>
              <a:t>UNIVERSITY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84616" y="6607092"/>
            <a:ext cx="469011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262E3A"/>
                </a:solidFill>
                <a:latin typeface="Aptos"/>
                <a:ea typeface="Aptos"/>
                <a:cs typeface="Aptos"/>
                <a:sym typeface="Aptos"/>
              </a:rPr>
              <a:t>• 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DAHU0e5fdRo</dc:identifier>
  <dcterms:modified xsi:type="dcterms:W3CDTF">2011-08-01T06:04:30Z</dcterms:modified>
  <cp:revision>1</cp:revision>
  <dc:title>Yash_Malik_Internship_Presentation.pptx</dc:title>
</cp:coreProperties>
</file>